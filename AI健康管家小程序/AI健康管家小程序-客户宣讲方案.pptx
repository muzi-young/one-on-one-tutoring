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4251960"/>
            <a:ext cx="2983865" cy="2557145"/>
          </a:xfrm>
          <a:prstGeom prst="ellipse">
            <a:avLst/>
          </a:prstGeom>
          <a:solidFill>
            <a:srgbClr val="155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AI健康管家小程序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7772400" cy="241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C6DCDE"/>
                </a:solidFill>
                <a:latin typeface="PingFang SC" panose="020B0400000000000000" charset="-122"/>
              </a:rPr>
              <a:t>客户</a:t>
            </a:r>
            <a:r>
              <a:rPr lang="en-US" sz="1500" b="0">
                <a:solidFill>
                  <a:srgbClr val="C6DCDE"/>
                </a:solidFill>
                <a:latin typeface="PingFang SC" panose="020B0400000000000000" charset="-122"/>
              </a:rPr>
              <a:t>ppt</a:t>
            </a:r>
            <a:r>
              <a:rPr sz="1500" b="0">
                <a:solidFill>
                  <a:srgbClr val="C6DCDE"/>
                </a:solidFill>
                <a:latin typeface="PingFang SC" panose="020B0400000000000000" charset="-122"/>
              </a:rPr>
              <a:t>｜对标悦尔的 AI 可信医疗辅助 + 家庭健康闭环 + 服务生态商业化</a:t>
            </a:r>
            <a:endParaRPr sz="1500" b="0">
              <a:solidFill>
                <a:srgbClr val="C6DCDE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7223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PingFang SC" panose="020B0400000000000000" charset="-122"/>
              </a:rPr>
              <a:t>面向患者与家庭用户，连接 AI 健管、导诊就医、报告解读、硬件数据、服务包商城与多机构入驻。</a:t>
            </a:r>
            <a:endParaRPr sz="22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3703320"/>
            <a:ext cx="109728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客户评审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8528" y="3703320"/>
            <a:ext cx="1051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MVP规划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27248" y="3703320"/>
            <a:ext cx="109728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合规边界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195" y="5329555"/>
            <a:ext cx="3840480" cy="1911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BECDCF"/>
                </a:solidFill>
                <a:latin typeface="PingFang SC" panose="020B0400000000000000" charset="-122"/>
              </a:rPr>
              <a:t>2026 · AI健康服务平台产品方案</a:t>
            </a:r>
            <a:endParaRPr sz="1400" b="0">
              <a:solidFill>
                <a:srgbClr val="BECDC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01 用户痛点与项目机会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从“零散健康咨询”升级为“家庭健康服务闭环”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02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17320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F8F8C"/>
                </a:solidFill>
                <a:latin typeface="PingFang SC" panose="020B0400000000000000" charset="-122"/>
              </a:rPr>
              <a:t>3类</a:t>
            </a:r>
            <a:endParaRPr sz="27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核心人群：患者 / 家庭 / 慢病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123444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417320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2563EB"/>
                </a:solidFill>
                <a:latin typeface="PingFang SC" panose="020B0400000000000000" charset="-122"/>
              </a:rPr>
              <a:t>5大</a:t>
            </a:r>
            <a:endParaRPr sz="2700" b="1">
              <a:solidFill>
                <a:srgbClr val="2563EB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19659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AI、导诊、硬件、商城、机构入驻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417320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97316"/>
                </a:solidFill>
                <a:latin typeface="PingFang SC" panose="020B0400000000000000" charset="-122"/>
              </a:rPr>
              <a:t>114项</a:t>
            </a:r>
            <a:endParaRPr sz="2700" b="1">
              <a:solidFill>
                <a:srgbClr val="F97316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已拆分需求功能点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52559" y="123444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1" y="1417320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7C3AED"/>
                </a:solidFill>
                <a:latin typeface="PingFang SC" panose="020B0400000000000000" charset="-122"/>
              </a:rPr>
              <a:t>3期</a:t>
            </a:r>
            <a:endParaRPr sz="2700" b="1">
              <a:solidFill>
                <a:srgbClr val="7C3AED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35439" y="19659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MVP、增强、生态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35204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" y="2971800"/>
            <a:ext cx="105156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痛点 1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" y="3374136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健康问题不知道问谁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6968" y="3749039"/>
            <a:ext cx="311810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用户遇到症状、报告异常、指标波动时，需要一个低门槛的健康信息入口，但又不能替代医生诊疗。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34840" y="2788920"/>
            <a:ext cx="352044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36007" y="2971800"/>
            <a:ext cx="1051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痛点 2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36007" y="3374136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就医路径不清楚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36007" y="3749039"/>
            <a:ext cx="311810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挂错科、选错医生、忘带报告、到院流程不清，是用户就医前后的高频痛点。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83879" y="278892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85048" y="2971800"/>
            <a:ext cx="105156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机会 3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5048" y="3374136"/>
            <a:ext cx="29352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服务无法闭环变现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85048" y="3749039"/>
            <a:ext cx="293522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硬件数据、AI 咨询、报告解读如果不能连接服务包和机构履约，就难以形成商业闭环。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02 产品定位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参考悦尔方向，但按小程序 MVP 可落地方式收敛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03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面向患者与家庭用户的 AI 健康服务小程序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914400" y="2395727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31720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D1F24"/>
                </a:solidFill>
                <a:latin typeface="PingFang SC" panose="020B0400000000000000" charset="-122"/>
              </a:rPr>
              <a:t>AI 有依据：来源、置信度、禁止回答边界</a:t>
            </a:r>
            <a:endParaRPr sz="12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4400" y="2743199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79191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D1F24"/>
                </a:solidFill>
                <a:latin typeface="PingFang SC" panose="020B0400000000000000" charset="-122"/>
              </a:rPr>
              <a:t>家庭能闭环：成员档案、任务、月报、年卡</a:t>
            </a:r>
            <a:endParaRPr sz="12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14400" y="3090671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26663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D1F24"/>
                </a:solidFill>
                <a:latin typeface="PingFang SC" panose="020B0400000000000000" charset="-122"/>
              </a:rPr>
              <a:t>就医能落地：医院/科室/医生能力画像与导诊</a:t>
            </a:r>
            <a:endParaRPr sz="12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14400" y="3438144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374136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D1F24"/>
                </a:solidFill>
                <a:latin typeface="PingFang SC" panose="020B0400000000000000" charset="-122"/>
              </a:rPr>
              <a:t>服务能交易：服务包、权益卡、预约核销</a:t>
            </a:r>
            <a:endParaRPr sz="12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4400" y="3785616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721608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D1F24"/>
                </a:solidFill>
                <a:latin typeface="PingFang SC" panose="020B0400000000000000" charset="-122"/>
              </a:rPr>
              <a:t>后台能治理：AI 质检、合规、运营看板</a:t>
            </a:r>
            <a:endParaRPr sz="12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29400" y="1234440"/>
            <a:ext cx="4480560" cy="4251960"/>
          </a:xfrm>
          <a:prstGeom prst="roundRect">
            <a:avLst/>
          </a:prstGeom>
          <a:solidFill>
            <a:srgbClr val="E7F8F7"/>
          </a:solidFill>
          <a:ln w="9525">
            <a:solidFill>
              <a:srgbClr val="BF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6002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核心策略表达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95160" y="2194560"/>
            <a:ext cx="35661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0D1F24"/>
                </a:solidFill>
                <a:latin typeface="PingFang SC" panose="020B0400000000000000" charset="-122"/>
              </a:rPr>
              <a:t>AI 可信医疗辅助</a:t>
            </a:r>
            <a:br>
              <a:rPr sz="2300" b="1">
                <a:solidFill>
                  <a:srgbClr val="0D1F24"/>
                </a:solidFill>
                <a:latin typeface="PingFang SC" panose="020B0400000000000000" charset="-122"/>
              </a:rPr>
            </a:br>
            <a:r>
              <a:rPr sz="2300" b="1">
                <a:solidFill>
                  <a:srgbClr val="0D1F24"/>
                </a:solidFill>
                <a:latin typeface="PingFang SC" panose="020B0400000000000000" charset="-122"/>
              </a:rPr>
              <a:t>+ 家庭全生命周期健康管理</a:t>
            </a:r>
            <a:br>
              <a:rPr sz="2300" b="1">
                <a:solidFill>
                  <a:srgbClr val="0D1F24"/>
                </a:solidFill>
                <a:latin typeface="PingFang SC" panose="020B0400000000000000" charset="-122"/>
              </a:rPr>
            </a:br>
            <a:r>
              <a:rPr sz="2300" b="1">
                <a:solidFill>
                  <a:srgbClr val="0D1F24"/>
                </a:solidFill>
                <a:latin typeface="PingFang SC" panose="020B0400000000000000" charset="-122"/>
              </a:rPr>
              <a:t>+ 千院/多机构智能导诊</a:t>
            </a:r>
            <a:br>
              <a:rPr sz="2300" b="1">
                <a:solidFill>
                  <a:srgbClr val="0D1F24"/>
                </a:solidFill>
                <a:latin typeface="PingFang SC" panose="020B0400000000000000" charset="-122"/>
              </a:rPr>
            </a:br>
            <a:r>
              <a:rPr sz="2300" b="1">
                <a:solidFill>
                  <a:srgbClr val="0D1F24"/>
                </a:solidFill>
                <a:latin typeface="PingFang SC" panose="020B0400000000000000" charset="-122"/>
              </a:rPr>
              <a:t>+ 服务生态商业化</a:t>
            </a:r>
            <a:endParaRPr sz="2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03 对标悦尔：我们要借鉴什么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不是照抄功能数量，而是学习产品结构与信任机制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04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3375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82296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对标 1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F24"/>
                </a:solidFill>
                <a:latin typeface="PingFang SC" panose="020B0400000000000000" charset="-122"/>
              </a:rPr>
              <a:t>悦尔类产品特征</a:t>
            </a:r>
            <a:endParaRPr sz="17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医学知识库 / RAG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2644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全生命周期家庭健康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73989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多机构就医助手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215383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服务生态入驻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1600200"/>
            <a:ext cx="8229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对标 2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2057400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F24"/>
                </a:solidFill>
                <a:latin typeface="PingFang SC" panose="020B0400000000000000" charset="-122"/>
              </a:rPr>
              <a:t>本方案对应能力</a:t>
            </a:r>
            <a:endParaRPr sz="17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00600" y="278892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AI回答依据展示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0600" y="32644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家庭风险标签与月报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00600" y="373989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医院能力画像与就医助手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600" y="4215383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九宫格服务生态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0" y="1325880"/>
            <a:ext cx="33375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1600200"/>
            <a:ext cx="82296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对标 3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0" y="2057400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F24"/>
                </a:solidFill>
                <a:latin typeface="PingFang SC" panose="020B0400000000000000" charset="-122"/>
              </a:rPr>
              <a:t>首期落地边界</a:t>
            </a:r>
            <a:endParaRPr sz="17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5360" y="278892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不做AI诊断/开方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0" y="326440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不做全国实时号源池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0" y="373989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不做深度HIS/医保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95360" y="4215383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78"/>
                </a:solidFill>
                <a:latin typeface="PingFang SC" panose="020B0400000000000000" charset="-122"/>
              </a:rPr>
              <a:t>• 先做试点闭环</a:t>
            </a:r>
            <a:endParaRPr sz="12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04 产品能力总架构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用户端体验、机构履约、平台治理三层协同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05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283464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73152" cy="4160520"/>
          </a:xfrm>
          <a:prstGeom prst="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63039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用户小程序端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1828800"/>
            <a:ext cx="25054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首页总览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AI健管 / AI导诊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报告解读中心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家庭健康闭环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硬件趋势分析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服务包商城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63440" y="1280160"/>
            <a:ext cx="283464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280160"/>
            <a:ext cx="73152" cy="4160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7" y="1463039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机构 / 商户端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64607" y="1828800"/>
            <a:ext cx="25054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机构信息管理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科室医生管理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商品/服务包上架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预约订单履约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核销与结算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0" y="1280160"/>
            <a:ext cx="283464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73152" cy="4160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1463039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平台运营后台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87968" y="1828800"/>
            <a:ext cx="250545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机构资质审核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AI知识库与话术规则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AI质检闭环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内容安全与审计</a:t>
            </a:r>
            <a:br>
              <a:rPr sz="950" b="0">
                <a:solidFill>
                  <a:srgbClr val="647478"/>
                </a:solidFill>
                <a:latin typeface="PingFang SC" panose="020B0400000000000000" charset="-122"/>
              </a:rPr>
            </a:b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运营数据看板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3703320" y="3063240"/>
            <a:ext cx="685800" cy="384048"/>
          </a:xfrm>
          <a:prstGeom prst="rightArrow">
            <a:avLst/>
          </a:prstGeom>
          <a:solidFill>
            <a:srgbClr val="B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726679" y="3063240"/>
            <a:ext cx="685800" cy="384048"/>
          </a:xfrm>
          <a:prstGeom prst="rightArrow">
            <a:avLst/>
          </a:prstGeom>
          <a:solidFill>
            <a:srgbClr val="BE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05 C端核心体验路径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围绕“问、看、测、导、买、管”形成闭环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06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" y="1371600"/>
            <a:ext cx="658368" cy="658368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问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1600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AI健管/导诊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" y="3017520"/>
            <a:ext cx="117043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症状追问、风险分级、科室建议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801368" y="1572768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14600" y="137160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看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86000" y="2286000"/>
            <a:ext cx="1600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5786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报告解读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96312" y="3017520"/>
            <a:ext cx="117043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上传报告、异常项解释、保存档案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721608" y="1572768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137160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测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06240" y="2286000"/>
            <a:ext cx="1600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5786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硬件趋势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16552" y="3017520"/>
            <a:ext cx="117043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血压/血糖同步、趋势图、异常预警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5641848" y="1572768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5080" y="1371600"/>
            <a:ext cx="658368" cy="6583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导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26480" y="2286000"/>
            <a:ext cx="1600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5786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就医助手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36792" y="3017520"/>
            <a:ext cx="117043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机构医生匹配、材料清单、预约提醒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562088" y="1572768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75320" y="1371600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买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20" y="2286000"/>
            <a:ext cx="1600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5786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服务包商城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57032" y="3017520"/>
            <a:ext cx="117043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慢病包、体检包、营养包、家庭年卡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482328" y="1572768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95560" y="1371600"/>
            <a:ext cx="658368" cy="65836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管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966960" y="2286000"/>
            <a:ext cx="16002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25786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家庭闭环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177272" y="3017520"/>
            <a:ext cx="117043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47478"/>
                </a:solidFill>
                <a:latin typeface="PingFang SC" panose="020B0400000000000000" charset="-122"/>
              </a:rPr>
              <a:t>任务、月报、家属提醒、复诊计划</a:t>
            </a:r>
            <a:endParaRPr sz="9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507492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F8F8C"/>
                </a:solidFill>
                <a:latin typeface="PingFang SC" panose="020B0400000000000000" charset="-122"/>
              </a:rPr>
              <a:t>结果：AI 产生建议 → 数据进入档案 → 推荐机构/服务包 → 形成预约、购买、核销、复盘闭环</a:t>
            </a:r>
            <a:endParaRPr sz="17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06 AI 可信医疗辅助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回答不只是“像医生”，更要有来源、边界和治理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07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25603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1417320"/>
            <a:ext cx="105156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P0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1819656"/>
            <a:ext cx="21579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回答来源展示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2194560"/>
            <a:ext cx="2157984" cy="777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展示指南、共识、药品说明书、平台知识库等来源摘要。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20440" y="1234440"/>
            <a:ext cx="25603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21608" y="1417320"/>
            <a:ext cx="1051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P0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1608" y="1819656"/>
            <a:ext cx="21579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医学依据标签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21608" y="2194560"/>
            <a:ext cx="2157984" cy="777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标注“指南依据 / 药品说明 / 健康科普 / 平台规则”。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5080" y="1234440"/>
            <a:ext cx="25603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6248" y="1417320"/>
            <a:ext cx="1051560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P0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6248" y="1819656"/>
            <a:ext cx="21579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置信度提示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2157984" cy="777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低置信内容引导补充信息或转人工/就医。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189720" y="1234440"/>
            <a:ext cx="23317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90888" y="1417320"/>
            <a:ext cx="10515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P0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90888" y="1819656"/>
            <a:ext cx="19293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禁止回答场景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90888" y="2194560"/>
            <a:ext cx="1929384" cy="777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不做诊断、开方、处方调整和急症处置。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10835640" cy="1417320"/>
          </a:xfrm>
          <a:prstGeom prst="roundRect">
            <a:avLst/>
          </a:prstGeom>
          <a:solidFill>
            <a:srgbClr val="FFF8F1"/>
          </a:solidFill>
          <a:ln w="9525">
            <a:solidFill>
              <a:srgbClr val="FA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3192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97316"/>
                </a:solidFill>
                <a:latin typeface="PingFang SC" panose="020B0400000000000000" charset="-122"/>
              </a:rPr>
              <a:t>合规宣讲口径</a:t>
            </a:r>
            <a:endParaRPr sz="1700" b="1">
              <a:solidFill>
                <a:srgbClr val="F97316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41655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D1F24"/>
                </a:solidFill>
                <a:latin typeface="PingFang SC" panose="020B0400000000000000" charset="-122"/>
              </a:rPr>
              <a:t>AI 输出仅作为健康信息参考和导诊辅助，不替代医生诊断、治疗建议或处方行为。涉及严肃医疗服务时，由具备资质的医疗机构和执业医师承接。</a:t>
            </a:r>
            <a:endParaRPr sz="12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03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07 五</a:t>
            </a:r>
            <a:r>
              <a:rPr lang="zh-CN" sz="2500" b="1">
                <a:solidFill>
                  <a:srgbClr val="0D1F24"/>
                </a:solidFill>
                <a:latin typeface="PingFang SC" panose="020B0400000000000000" charset="-122"/>
              </a:rPr>
              <a:t>大</a:t>
            </a: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的核心模块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08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234440"/>
            <a:ext cx="10424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1417320"/>
            <a:ext cx="41148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1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7632" y="138074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报告解读中心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77639" y="138074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高频刚需入口：上传报告、异常解释、就医建议、推荐服务包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10424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" y="2377440"/>
            <a:ext cx="411480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2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7632" y="234086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家庭健康闭环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7639" y="234086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家庭成员、风险标签、老人/儿童/慢病路径、月报与年卡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3154680"/>
            <a:ext cx="10424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8992" y="3337560"/>
            <a:ext cx="41148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3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27632" y="330098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千院/多机构导诊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77639" y="330098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医院能力画像、科室擅长标签、医生匹配理由、就诊材料清单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8680" y="4114800"/>
            <a:ext cx="10424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78992" y="4297680"/>
            <a:ext cx="41148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4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7632" y="426110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硬件趋势分析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7639" y="426110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设备同步、趋势图、异常波动、AI趋势解读、复测提醒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8680" y="5074920"/>
            <a:ext cx="10424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257800"/>
            <a:ext cx="41148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5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27632" y="522122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1F24"/>
                </a:solidFill>
                <a:latin typeface="PingFang SC" panose="020B0400000000000000" charset="-122"/>
              </a:rPr>
              <a:t>服务包商城</a:t>
            </a:r>
            <a:endParaRPr sz="13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77639" y="52212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慢病包、体检包、营养包、心理包、术后康复包、权益卡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08 九宫格服务生态与商业化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从卖商品升级为“可履约的健康服务平台”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09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99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医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7320" y="1444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医院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97479" y="1234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399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药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39" y="1444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药店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0" y="1234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399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检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66360" y="1444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检测机构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2377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542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体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2587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体检中心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697479" y="2377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62072" y="2542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营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39" y="2587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营养机构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0" y="2377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2542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心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60" y="2587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心理机构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3520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685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康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3730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康复机构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697479" y="3520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3685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护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91839" y="3730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护理机构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572000" y="3520440"/>
            <a:ext cx="1554480" cy="822960"/>
          </a:xfrm>
          <a:prstGeom prst="roundRect">
            <a:avLst/>
          </a:prstGeom>
          <a:solidFill>
            <a:srgbClr val="F8FCFC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36850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保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66360" y="373075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D1F24"/>
                </a:solidFill>
                <a:latin typeface="PingFang SC" panose="020B0400000000000000" charset="-122"/>
              </a:rPr>
              <a:t>保险/健管</a:t>
            </a:r>
            <a:endParaRPr sz="11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766560" y="1234440"/>
            <a:ext cx="4160520" cy="3108960"/>
          </a:xfrm>
          <a:prstGeom prst="roundRect">
            <a:avLst/>
          </a:prstGeom>
          <a:solidFill>
            <a:srgbClr val="EFFAF9"/>
          </a:solidFill>
          <a:ln w="9525">
            <a:solidFill>
              <a:srgbClr val="BF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16002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商业闭环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78040" y="221284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1" y="2148840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D1F24"/>
                </a:solidFill>
                <a:latin typeface="PingFang SC" panose="020B0400000000000000" charset="-122"/>
              </a:rPr>
              <a:t>AI 咨询和报告解读触发服务推荐</a:t>
            </a:r>
            <a:endParaRPr sz="11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178040" y="2560320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42631" y="2496312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D1F24"/>
                </a:solidFill>
                <a:latin typeface="PingFang SC" panose="020B0400000000000000" charset="-122"/>
              </a:rPr>
              <a:t>服务包购买后形成权益卡</a:t>
            </a:r>
            <a:endParaRPr sz="11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7178040" y="2907792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2631" y="2843784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D1F24"/>
                </a:solidFill>
                <a:latin typeface="PingFang SC" panose="020B0400000000000000" charset="-122"/>
              </a:rPr>
              <a:t>机构预约、到店/到院核销</a:t>
            </a:r>
            <a:endParaRPr sz="11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178040" y="3255264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2631" y="3191256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D1F24"/>
                </a:solidFill>
                <a:latin typeface="PingFang SC" panose="020B0400000000000000" charset="-122"/>
              </a:rPr>
              <a:t>平台结算、复购和运营分析</a:t>
            </a:r>
            <a:endParaRPr sz="110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09 平台后台：运营与治理能力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医疗健康产品不能只有前台体验，必须有后台治理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10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2461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417320"/>
            <a:ext cx="105156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治理 1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1819656"/>
            <a:ext cx="2843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资质审核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194560"/>
            <a:ext cx="284378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医院、药店、检测、心理、康复、护理等不同业态按资质清单审核。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60" y="1234440"/>
            <a:ext cx="32461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417320"/>
            <a:ext cx="1051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治理 2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1819656"/>
            <a:ext cx="2843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AI 质检闭环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1728" y="2194560"/>
            <a:ext cx="284378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AI 回复抽检、投诉关联对话、医学专家审核、风险案例库。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292608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0768" y="1417320"/>
            <a:ext cx="105156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治理 3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0768" y="1819656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审计追溯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30768" y="2194560"/>
            <a:ext cx="25237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AI回复、授权、资质、退款、数据查看和规则修改均留痕。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32461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3977640"/>
            <a:ext cx="10515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看板 1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" y="4379976"/>
            <a:ext cx="2843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AI运营指标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" y="4754880"/>
            <a:ext cx="2843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咨询次数、导诊转预约率、报告解读转化率。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80560" y="3794760"/>
            <a:ext cx="324612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3977640"/>
            <a:ext cx="1051560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看板 2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81728" y="4379976"/>
            <a:ext cx="2843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硬件与服务转化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81728" y="4754880"/>
            <a:ext cx="2843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异常数据触发率、服务包推荐购买率、核销率。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29600" y="3794760"/>
            <a:ext cx="29260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30768" y="3977640"/>
            <a:ext cx="1051560" cy="2926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看板 3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30768" y="4379976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风险指标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30768" y="4754880"/>
            <a:ext cx="25237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高风险拦截次数、投诉率、质检通过率。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10 MVP / 二期 / 三期交付路径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先跑通闭环，再增强能力，最后建设生态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11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24612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27632"/>
            <a:ext cx="1005840" cy="292608"/>
          </a:xfrm>
          <a:prstGeom prst="roundRect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MVP首期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12140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F8F8C"/>
                </a:solidFill>
                <a:latin typeface="PingFang SC" panose="020B0400000000000000" charset="-122"/>
              </a:rPr>
              <a:t>33项</a:t>
            </a:r>
            <a:endParaRPr sz="30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2743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基础闭环上线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3218688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AI健管、导诊、健康档案、报告解读、基础商城、机构展示、基础合规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46817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78"/>
                </a:solidFill>
                <a:latin typeface="PingFang SC" panose="020B0400000000000000" charset="-122"/>
              </a:rPr>
              <a:t>建议作为报价和排期拆分依据</a:t>
            </a:r>
            <a:endParaRPr sz="9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59" y="1325880"/>
            <a:ext cx="324612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59" y="1627632"/>
            <a:ext cx="1005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二期增强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36592" y="212140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563EB"/>
                </a:solidFill>
                <a:latin typeface="PingFang SC" panose="020B0400000000000000" charset="-122"/>
              </a:rPr>
              <a:t>76项</a:t>
            </a:r>
            <a:endParaRPr sz="3000" b="1">
              <a:solidFill>
                <a:srgbClr val="2563EB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36592" y="2743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提升留存与转化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3218688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家庭健康路径、硬件趋势、服务包权益卡、AI可信依据、运营看板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46817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78"/>
                </a:solidFill>
                <a:latin typeface="PingFang SC" panose="020B0400000000000000" charset="-122"/>
              </a:rPr>
              <a:t>建议作为报价和排期拆分依据</a:t>
            </a:r>
            <a:endParaRPr sz="9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0" y="1325880"/>
            <a:ext cx="324612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1627632"/>
            <a:ext cx="100584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三期生态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212140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97316"/>
                </a:solidFill>
                <a:latin typeface="PingFang SC" panose="020B0400000000000000" charset="-122"/>
              </a:rPr>
              <a:t>5项</a:t>
            </a:r>
            <a:endParaRPr sz="3000" b="1">
              <a:solidFill>
                <a:srgbClr val="F97316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85632" y="2743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平台生态扩张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85632" y="3218688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78"/>
                </a:solidFill>
                <a:latin typeface="PingFang SC" panose="020B0400000000000000" charset="-122"/>
              </a:rPr>
              <a:t>九宫格业态、复杂分账、区域医院/保险资源联动</a:t>
            </a:r>
            <a:endParaRPr sz="11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85632" y="468172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78"/>
                </a:solidFill>
                <a:latin typeface="PingFang SC" panose="020B0400000000000000" charset="-122"/>
              </a:rPr>
              <a:t>建议作为报价和排期拆分依据</a:t>
            </a:r>
            <a:endParaRPr sz="9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11 首期不做清单与报价拆分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帮助客户控制范围，也帮助后续报价谈判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12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5166360" cy="4526280"/>
          </a:xfrm>
          <a:prstGeom prst="roundRect">
            <a:avLst/>
          </a:prstGeom>
          <a:solidFill>
            <a:srgbClr val="FFF8F1"/>
          </a:solidFill>
          <a:ln w="9525">
            <a:solidFill>
              <a:srgbClr val="FA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</a:rPr>
              <a:t>首期建议不做</a:t>
            </a:r>
            <a:endParaRPr sz="1800" b="1">
              <a:solidFill>
                <a:srgbClr val="F97316"/>
              </a:solidFill>
              <a:latin typeface="PingFang SC" panose="020B0400000000000000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5840" y="212140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057400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在线开方、AI直接诊断、处方调整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5840" y="257860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514600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医保支付、保险理赔闭环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303580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971800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深度 HIS 对接、全国实时号源池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05840" y="349300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429000"/>
            <a:ext cx="42245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自研医疗大模型、全品类硬件接入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1188720"/>
            <a:ext cx="516636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0876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8F8C"/>
                </a:solidFill>
                <a:latin typeface="PingFang SC" panose="020B0400000000000000" charset="-122"/>
              </a:rPr>
              <a:t>报价拆分维度</a:t>
            </a:r>
            <a:endParaRPr sz="18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629400" y="212140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057400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用户小程序端 / 商户机构端 / 平台后台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629400" y="253288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468880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AI能力：模型、RAG、报告识别、质检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629400" y="294436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880360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硬件对接：设备品类与厂商 SDK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629400" y="335584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291840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商城交易：服务包、权益、核销、分账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629400" y="3767328"/>
            <a:ext cx="73152" cy="73152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703320"/>
            <a:ext cx="43159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0D1F24"/>
                </a:solidFill>
                <a:latin typeface="PingFang SC" panose="020B0400000000000000" charset="-122"/>
              </a:rPr>
              <a:t>第三方接口：支付、短信、物流、地图、内容安全</a:t>
            </a:r>
            <a:endParaRPr sz="1120" b="0">
              <a:solidFill>
                <a:srgbClr val="0D1F24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D1F24"/>
                </a:solidFill>
                <a:latin typeface="PingFang SC" panose="020B0400000000000000" charset="-122"/>
              </a:rPr>
              <a:t>12 建议推进节奏</a:t>
            </a:r>
            <a:endParaRPr sz="2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用 4 个节点把方案推进到可评审、可报价、可立项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AI健康管家小程序方案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647478"/>
                </a:solidFill>
                <a:latin typeface="PingFang SC" panose="020B0400000000000000" charset="-122"/>
              </a:rPr>
              <a:t>13</a:t>
            </a:r>
            <a:endParaRPr sz="80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>
          <a:xfrm>
            <a:off x="1691640" y="1325880"/>
            <a:ext cx="658368" cy="658368"/>
          </a:xfrm>
          <a:prstGeom prst="ellipse">
            <a:avLst/>
          </a:prstGeom>
          <a:solidFill>
            <a:srgbClr val="0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1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822960" y="2240280"/>
            <a:ext cx="24231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051560" y="2542032"/>
            <a:ext cx="1920240" cy="241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范围确认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051560" y="3063240"/>
            <a:ext cx="192024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确认客户资源、首期范围、是否含硬件/机构试点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2" name="Right Arrow 11"/>
          <p:cNvSpPr/>
          <p:nvPr>
            <p:custDataLst>
              <p:tags r:id="rId5"/>
            </p:custDataLst>
          </p:nvPr>
        </p:nvSpPr>
        <p:spPr>
          <a:xfrm>
            <a:off x="3337560" y="1508760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>
            <p:custDataLst>
              <p:tags r:id="rId6"/>
            </p:custDataLst>
          </p:nvPr>
        </p:nvSpPr>
        <p:spPr>
          <a:xfrm>
            <a:off x="4480559" y="132588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2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611879" y="2240280"/>
            <a:ext cx="24231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3840479" y="2542032"/>
            <a:ext cx="1920240" cy="241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原型评审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840479" y="3063240"/>
            <a:ext cx="192024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用高保真 HTML 走通首页、AI、报告、商城、治理流程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17" name="Right Arrow 16"/>
          <p:cNvSpPr/>
          <p:nvPr>
            <p:custDataLst>
              <p:tags r:id="rId10"/>
            </p:custDataLst>
          </p:nvPr>
        </p:nvSpPr>
        <p:spPr>
          <a:xfrm>
            <a:off x="6126479" y="1508760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>
            <p:custDataLst>
              <p:tags r:id="rId11"/>
            </p:custDataLst>
          </p:nvPr>
        </p:nvSpPr>
        <p:spPr>
          <a:xfrm>
            <a:off x="7269480" y="1325880"/>
            <a:ext cx="658368" cy="65836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3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2"/>
            </p:custDataLst>
          </p:nvPr>
        </p:nvSpPr>
        <p:spPr>
          <a:xfrm>
            <a:off x="6400800" y="2240280"/>
            <a:ext cx="24231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6629400" y="2542032"/>
            <a:ext cx="1920240" cy="241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报价拆分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6629400" y="3063240"/>
            <a:ext cx="192024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按端口、AI、硬件、商城、后台、接口、合规拆报价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2" name="Right Arrow 21"/>
          <p:cNvSpPr/>
          <p:nvPr>
            <p:custDataLst>
              <p:tags r:id="rId15"/>
            </p:custDataLst>
          </p:nvPr>
        </p:nvSpPr>
        <p:spPr>
          <a:xfrm>
            <a:off x="8915400" y="1508760"/>
            <a:ext cx="411480" cy="256032"/>
          </a:xfrm>
          <a:prstGeom prst="rightArrow">
            <a:avLst/>
          </a:prstGeom>
          <a:solidFill>
            <a:srgbClr val="C2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>
            <p:custDataLst>
              <p:tags r:id="rId16"/>
            </p:custDataLst>
          </p:nvPr>
        </p:nvSpPr>
        <p:spPr>
          <a:xfrm>
            <a:off x="10058399" y="1325880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4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9189719" y="2240280"/>
            <a:ext cx="24231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9418319" y="2542032"/>
            <a:ext cx="1920240" cy="241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D1F24"/>
                </a:solidFill>
                <a:latin typeface="PingFang SC" panose="020B0400000000000000" charset="-122"/>
              </a:rPr>
              <a:t>MVP立项</a:t>
            </a:r>
            <a:endParaRPr sz="1500" b="1">
              <a:solidFill>
                <a:srgbClr val="0D1F24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9418319" y="3063240"/>
            <a:ext cx="192024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7478"/>
                </a:solidFill>
                <a:latin typeface="PingFang SC" panose="020B0400000000000000" charset="-122"/>
              </a:rPr>
              <a:t>冻结需求，输出排期、验收标准和合规文本</a:t>
            </a:r>
            <a:endParaRPr sz="1050" b="0">
              <a:solidFill>
                <a:srgbClr val="647478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9966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F8F8C"/>
                </a:solidFill>
                <a:latin typeface="PingFang SC" panose="020B0400000000000000" charset="-122"/>
              </a:rPr>
              <a:t>建议会议结论：确认 MVP 范围 + 明确首期不做项 + 约定下一步原型/报价评审时间</a:t>
            </a:r>
            <a:endParaRPr sz="1700" b="1">
              <a:solidFill>
                <a:srgbClr val="0F8F8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PingFang SC" panose="020B0400000000000000" charset="-122"/>
              </a:rPr>
              <a:t>THANK YOU</a:t>
            </a:r>
            <a:endParaRPr sz="3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" y="1508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PingFang SC" panose="020B0400000000000000" charset="-122"/>
              </a:rPr>
              <a:t>AI健康管家小程序客户宣讲方案</a:t>
            </a:r>
            <a:endParaRPr sz="25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6766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C6DCDE"/>
                </a:solidFill>
                <a:latin typeface="PingFang SC" panose="020B0400000000000000" charset="-122"/>
              </a:rPr>
              <a:t>下一步建议：使用高保真原型进行 20 分钟客户 walkthrough，并现场标注 MVP 必做 / 可后置 / 需客户资源确认。</a:t>
            </a:r>
            <a:endParaRPr sz="1500" b="0">
              <a:solidFill>
                <a:srgbClr val="C6DCDE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703320" cy="1051560"/>
          </a:xfrm>
          <a:prstGeom prst="roundRect">
            <a:avLst/>
          </a:prstGeom>
          <a:solidFill>
            <a:srgbClr val="14383E"/>
          </a:solidFill>
          <a:ln w="9525">
            <a:solidFill>
              <a:srgbClr val="286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5020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PingFang SC" panose="020B0400000000000000" charset="-122"/>
              </a:rPr>
              <a:t>交付物已准备</a:t>
            </a:r>
            <a:endParaRPr sz="16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4407408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C6DCDE"/>
                </a:solidFill>
                <a:latin typeface="PingFang SC" panose="020B0400000000000000" charset="-122"/>
              </a:rPr>
              <a:t>Word方案 / Excel清单 / XMind导图 / HTML原型 / PPT</a:t>
            </a:r>
            <a:endParaRPr sz="950" b="0">
              <a:solidFill>
                <a:srgbClr val="C6DCDE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2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3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4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5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6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7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8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9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0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1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2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3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4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5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6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7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8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ags/tag19.xml><?xml version="1.0" encoding="utf-8"?>
<p:tagLst xmlns:p="http://schemas.openxmlformats.org/presentationml/2006/main">
  <p:tag name="KSO_WM_DIAGRAM_VIRTUALLY_FRAME" val="{&quot;height&quot;:223.2,&quot;left&quot;:64.8,&quot;top&quot;:104.4,&quot;width&quot;:849.5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2794</Words>
  <Application>WPS 表格</Application>
  <PresentationFormat>On-screen Show (4:3)</PresentationFormat>
  <Paragraphs>472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___惜沫</cp:lastModifiedBy>
  <cp:revision>5</cp:revision>
  <dcterms:created xsi:type="dcterms:W3CDTF">2026-05-10T09:13:34Z</dcterms:created>
  <dcterms:modified xsi:type="dcterms:W3CDTF">2026-05-10T09:13:34Z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6FC70C53AEEC9A6410FBFA69BDD50C01_42</vt:lpwstr>
  </property>
</Properties>
</file>